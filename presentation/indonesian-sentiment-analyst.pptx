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b38bf5b6341b8" /><Relationship Type="http://schemas.openxmlformats.org/officeDocument/2006/relationships/extended-properties" Target="/docProps/app.xml" Id="Rcaddbfcd9f4d41a4" /><Relationship Type="http://schemas.openxmlformats.org/officeDocument/2006/relationships/officeDocument" Target="/ppt/presentation.xml" Id="R3e626cebce8c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5b3d2e80c74b8e"/>
  </p:sldMasterIdLst>
  <p:notesMasterIdLst>
    <p:notesMasterId xmlns:r="http://schemas.openxmlformats.org/officeDocument/2006/relationships" r:id="R0157f86314b44271"/>
  </p:notesMasterIdLst>
  <p:sldIdLst>
    <p:sldId xmlns:r="http://schemas.openxmlformats.org/officeDocument/2006/relationships" id="256" r:id="Rb7f8ecfd981b44d2"/>
    <p:sldId xmlns:r="http://schemas.openxmlformats.org/officeDocument/2006/relationships" id="257" r:id="R5cedeb87263c4e2b"/>
    <p:sldId xmlns:r="http://schemas.openxmlformats.org/officeDocument/2006/relationships" id="258" r:id="Ra000930d874a45ea"/>
    <p:sldId xmlns:r="http://schemas.openxmlformats.org/officeDocument/2006/relationships" id="259" r:id="Rd8a8876f29244902"/>
    <p:sldId xmlns:r="http://schemas.openxmlformats.org/officeDocument/2006/relationships" id="260" r:id="R782d00b3519541ae"/>
    <p:sldId xmlns:r="http://schemas.openxmlformats.org/officeDocument/2006/relationships" id="261" r:id="R91edec04d64442ba"/>
    <p:sldId xmlns:r="http://schemas.openxmlformats.org/officeDocument/2006/relationships" id="262" r:id="R5ce66c314e9c4eb7"/>
    <p:sldId xmlns:r="http://schemas.openxmlformats.org/officeDocument/2006/relationships" id="263" r:id="R343612a639444e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8ce9c39584862" /><Relationship Type="http://schemas.openxmlformats.org/officeDocument/2006/relationships/slideMaster" Target="/ppt/slideMasters/slideMaster1.xml" Id="R495b3d2e80c74b8e" /><Relationship Type="http://schemas.openxmlformats.org/officeDocument/2006/relationships/notesMaster" Target="/ppt/notesMasters/notesMaster1.xml" Id="R0157f86314b44271" /><Relationship Type="http://schemas.openxmlformats.org/officeDocument/2006/relationships/presProps" Target="/ppt/presProps.xml" Id="R430ce0fa4b9445ab" /><Relationship Type="http://schemas.openxmlformats.org/officeDocument/2006/relationships/viewProps" Target="/ppt/viewProps.xml" Id="R184d202564504c6c" /><Relationship Type="http://schemas.openxmlformats.org/officeDocument/2006/relationships/tableStyles" Target="/ppt/tableStyles.xml" Id="R2839d6874f9e4802" /><Relationship Type="http://schemas.openxmlformats.org/officeDocument/2006/relationships/slide" Target="/ppt/slides/slide1.xml" Id="Rb7f8ecfd981b44d2" /><Relationship Type="http://schemas.openxmlformats.org/officeDocument/2006/relationships/slide" Target="/ppt/slides/slide2.xml" Id="R5cedeb87263c4e2b" /><Relationship Type="http://schemas.openxmlformats.org/officeDocument/2006/relationships/slide" Target="/ppt/slides/slide3.xml" Id="Ra000930d874a45ea" /><Relationship Type="http://schemas.openxmlformats.org/officeDocument/2006/relationships/slide" Target="/ppt/slides/slide4.xml" Id="Rd8a8876f29244902" /><Relationship Type="http://schemas.openxmlformats.org/officeDocument/2006/relationships/slide" Target="/ppt/slides/slide5.xml" Id="R782d00b3519541ae" /><Relationship Type="http://schemas.openxmlformats.org/officeDocument/2006/relationships/slide" Target="/ppt/slides/slide6.xml" Id="R91edec04d64442ba" /><Relationship Type="http://schemas.openxmlformats.org/officeDocument/2006/relationships/slide" Target="/ppt/slides/slide7.xml" Id="R5ce66c314e9c4eb7" /><Relationship Type="http://schemas.openxmlformats.org/officeDocument/2006/relationships/slide" Target="/ppt/slides/slide8.xml" Id="R343612a639444e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71b96fead4e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24b5ea97e4d9a" /><Relationship Type="http://schemas.openxmlformats.org/officeDocument/2006/relationships/notesMaster" Target="/ppt/notesMasters/notesMaster1.xml" Id="R4ea7c1745782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cff2c728f4f61" /><Relationship Type="http://schemas.openxmlformats.org/officeDocument/2006/relationships/notesMaster" Target="/ppt/notesMasters/notesMaster1.xml" Id="Rb8c5617d4af547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97dd8fdc6d4018" /><Relationship Type="http://schemas.openxmlformats.org/officeDocument/2006/relationships/notesMaster" Target="/ppt/notesMasters/notesMaster1.xml" Id="R0d708717d77f43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f90b6d718d47a2" /><Relationship Type="http://schemas.openxmlformats.org/officeDocument/2006/relationships/notesMaster" Target="/ppt/notesMasters/notesMaster1.xml" Id="R08f7b3affa2d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1b8e352e384fed" /><Relationship Type="http://schemas.openxmlformats.org/officeDocument/2006/relationships/notesMaster" Target="/ppt/notesMasters/notesMaster1.xml" Id="Rb3a0e254f60b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5f6707d264c3c" /><Relationship Type="http://schemas.openxmlformats.org/officeDocument/2006/relationships/notesMaster" Target="/ppt/notesMasters/notesMaster1.xml" Id="Rf6676b1887c0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0f701a526842a3" /><Relationship Type="http://schemas.openxmlformats.org/officeDocument/2006/relationships/notesMaster" Target="/ppt/notesMasters/notesMaster1.xml" Id="R3a6427b188e540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110baf51d4d91" /><Relationship Type="http://schemas.openxmlformats.org/officeDocument/2006/relationships/notesMaster" Target="/ppt/notesMasters/notesMaster1.xml" Id="R624a40fd2b57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6e6467cbd41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d259f293948b1" /><Relationship Type="http://schemas.openxmlformats.org/officeDocument/2006/relationships/slideLayout" Target="/ppt/slideLayouts/slideLayout1.xml" Id="Rcae85acbede0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85acbede0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1d18b30647e2" /><Relationship Type="http://schemas.openxmlformats.org/officeDocument/2006/relationships/notesSlide" Target="/ppt/notesSlides/notesSlide1.xml" Id="Rfc69eba2b49a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5af667e8247bd" /><Relationship Type="http://schemas.openxmlformats.org/officeDocument/2006/relationships/notesSlide" Target="/ppt/notesSlides/notesSlide2.xml" Id="R52cede9b0b9f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8e9e11074473" /><Relationship Type="http://schemas.openxmlformats.org/officeDocument/2006/relationships/notesSlide" Target="/ppt/notesSlides/notesSlide3.xml" Id="R2bdc5945937449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cf220dd47494f" /><Relationship Type="http://schemas.openxmlformats.org/officeDocument/2006/relationships/notesSlide" Target="/ppt/notesSlides/notesSlide4.xml" Id="R29e6687eade94e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f94f2b3c241b2" /><Relationship Type="http://schemas.openxmlformats.org/officeDocument/2006/relationships/notesSlide" Target="/ppt/notesSlides/notesSlide5.xml" Id="Rc981c27b6ab5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d0266fab84527" /><Relationship Type="http://schemas.openxmlformats.org/officeDocument/2006/relationships/notesSlide" Target="/ppt/notesSlides/notesSlide6.xml" Id="Rc2ac6fa9781c48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a0af6f08f4ac7" /><Relationship Type="http://schemas.openxmlformats.org/officeDocument/2006/relationships/notesSlide" Target="/ppt/notesSlides/notesSlide7.xml" Id="R6e97380059d340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e2dee693443da" /><Relationship Type="http://schemas.openxmlformats.org/officeDocument/2006/relationships/notesSlide" Target="/ppt/notesSlides/notesSlide8.xml" Id="R65528e49345048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C270D-892A-43FE-A2E5-1C802943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80AED6-C4C7-43E3-B4C4-93911F1D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60B8A7-C954-4887-AD87-C51C0A3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PROJECT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00A8B-FAD3-46B7-9A91-FBB6497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Indonesian Sentiment Analyst classifies public opinion in PPKM tweets.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DF093-F69B-4284-8040-CA9D93E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52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The project takes Indonesian tweets, cleans and normalizes the text, converts it into TF-IDF features, and predicts whether the sentiment is positive, neutral, or negative.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F7B24-19DD-4840-8E87-425FE153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DBA78-9669-42AF-A4DF-AA9EB6A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rPr>
              <a:t>23,644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2E2E1-B469-497B-BC66-458BC5D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labeled tweets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A566F-7FB4-464F-BAA3-CFBC7F2B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BA99B-B470-436A-8CFB-22444D61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F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8F6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82B46-7A76-434B-93D5-5BF7D61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sentiment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1F50A-7170-4A9A-8D8D-257F910C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4D27F-ADAA-4A0D-AA6A-0F422A65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9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0.8422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A7BC-46B3-4C72-9A0A-D516F14F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386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6FE5B-F674-43A4-8147-5537B6B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A369C-1C63-47CF-BB69-AB1A8C59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4E5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4E52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20187-686F-481C-A7D9-F85C0A44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38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main artifact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2A900-8D7D-480E-80C3-E56B4C5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293A8-5788-42D6-B5AF-15BB907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4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3F4F6"/>
                </a:solidFill>
                <a:latin typeface="Aptos Mono"/>
                <a:ea typeface="Aptos Mono"/>
                <a:cs typeface="Aptos Mono"/>
              </a:rPr>
              <a:t>raw tweet -&gt; preprocessing -&gt; TF-IDF -&gt; Logistic Regression -&gt; sentiment 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73E93-453B-4B1C-A687-367424B0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74F1E-0238-4048-B103-56CE88E2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Project focus: supervised Indonesian tweet sentiment classification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198B2-3988-4C33-B92B-9C6C1D9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36677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D81D9-2C80-419B-BC6C-8A8F373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DD0930-64D0-4F7B-9D1C-C5D0832E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81305B-AF65-4C6D-8989-F43E2A0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WHAT THE PROJECT 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CC2A1-C4D3-45C2-8FCC-AAD0977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sentiment model learns from labeled PPKM tweets and Indonesian slang normalization.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13561-6C25-4FE9-A82D-A8532271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E64A-C2D4-4D24-82BD-A097BFC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3362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DCD47-2B8B-446F-BAC4-3063467B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33625"/>
            <a:ext cx="47399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F9B10-B890-4927-9A18-3CBCA3E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1,958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42645-E686-4DF3-BAA3-F37F5D1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58D83-7269-45DA-9358-F7025C24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14BC-571D-4CA4-88EF-64FDDAA1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F8DD8-D22B-4A9A-8AC5-D6CEE19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17,706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F0565-E626-4346-8C34-E0B12C73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74E7F-3A70-45F5-9A04-AE47D02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71875"/>
            <a:ext cx="428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C8EF4-B670-4B13-B704-48F448E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71875"/>
            <a:ext cx="96347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878EB-10EC-4A53-AF17-B4101C2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33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3,980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DF9E1-CC9C-41FC-A244-A7AA884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label distribution is imbalanced, so evaluation uses macro F1 in addition to accuracy.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CAD17-8408-4D21-9E89-A48CB453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7640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22FAD-455D-46BD-BA13-53673DD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B832A-7807-4008-9FF2-033712CA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64A48-5B78-4E1C-9B5A-8BEBC46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PPKM tweet sentiment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73A9E-0F59-478E-9393-578CC1F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23,644 tweets labeled as positive, neutral, or negative.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B7E86-D91B-40F4-9DB6-E058129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D7"/>
          </a:solidFill>
          <a:ln xmlns:a="http://schemas.openxmlformats.org/drawingml/2006/main" w="9525">
            <a:solidFill>
              <a:srgbClr val="D99A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E60F0-3C63-477B-B8DE-4903425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242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new_kamusalay.csv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741A6-7B06-4769-BDE1-659AD7D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15,167 slang mappings help convert informal Indonesian terms into formal 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AA6C3-5D3D-4FDB-A6A2-0E2F381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2FA37-FEB2-4A92-B8E9-3B5C08F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Kaggle PPKM dataset; Ibrohim and Budi new_kamusalay.csv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EF3AA-A82A-472A-B23B-9105A2E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11975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E2561-9CC8-4077-BFA6-87E59CB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9D3DEB-3DB9-4476-98A7-74408A2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B55F43-B804-40E1-9E2D-C8EABB6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WHY PREPROCESSING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BB055-2026-449D-89AB-7020E12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Tweet text needs cleaning before it becomes reliable model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6557-3C12-4366-8B94-F2B1FF0C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A3284-3F48-4551-86A7-82843B0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23578-724C-4808-85F0-40AAF3F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9AD91-F8D7-498C-A138-EB561A1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 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7C24E-E533-4DFC-9C16-361A877B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990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lowercase, unescape HTML, remove URLs, replace user mentions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A5361-4EF0-46D7-879C-801F7E3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861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1ECB3-68F7-4F8F-89F0-87375D22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C0829-762A-4E5D-85C1-6738D858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89E6E-3134-49A2-A1D9-CE55345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7BC0E-AB99-4BE6-BBF2-C42FE58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6FAE9-96E5-4D56-A4B2-819ACEC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Normalize 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3F66A-D897-4775-BD69-0B43832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2419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keep hashtag words, reduce repeated letters, map slang to formal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2956D-16E8-455D-8DA2-0E86622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A7D0A-0302-4216-82AF-88DAB8E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D9BE7-69DC-4CED-A63D-BC6248BD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765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0A99C-AA84-4F80-8C73-5A56B7D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394D4-620C-439C-AF51-FA166A5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C013A-9A4D-4162-91E2-2573B6C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28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Prepare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720A7-450E-4235-B625-FABD0CA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670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remove symbols and pass cleaned tokens into TF-IDF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A6B03-0C11-4AA7-A50B-806B826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23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9BB54-5866-44FA-B996-C8DDC97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Raw 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03216-28F4-40C8-AE93-A8907A64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3762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@user PPKM ini nyusahin bangettt https://t.co/abc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3EF1E-B150-41DF-B563-E0317C9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23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4DDCF-B704-46A4-8A2C-01AD567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Cleaned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AFD77-3831-456E-B886-8E19165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62550"/>
            <a:ext cx="3762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user ppkm ini menyusahkan bangett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B9609-9A82-4411-A1BC-057299F8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C0DEF-8FC0-4EDF-B9B6-02F1C11F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normalize_tweet in src/train_sentiment.py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9D13D-333E-4ABF-8492-B98482EE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74768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92831-90EE-48FA-ADC8-7EF713C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EFE684-EC98-48D6-83DE-6A5A205A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537508-B295-4BB9-A005-866ABEE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HOW THE MODEL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E813A-33B6-428B-BFC0-6D978421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TF-IDF converts text into features; Logistic Regression predicts the sentiment class.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B1828-DE21-40C0-A7D5-9355F5B7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1ACB6-9BEE-41DC-962B-1B3AFAE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4DB7-530C-4287-BBC9-0122709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7A2B-C3C6-4639-BB1E-5490984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Normalized tweet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8BF6C-41A9-411C-B26C-275B64D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clean Indonesian text after URL, mention, hashtag, and slang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8B3A2-02E0-4CD9-B412-E0F926B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5A94E-45BC-4486-9719-D820F11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8A67B-916D-4269-B38E-BF1BCF9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AA72E-C0E2-4E1B-9547-E593268E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E9550-0EB5-4365-9448-CF42A02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5ABEE-5D44-4C93-A52D-80E2CCD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TF-IDF vectorizer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D6759-A2E4-489A-9C62-397B3E0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uses single words and two-word phrases, with up to 30,000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D76DE-A1ED-4914-8448-B14FC34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8F18E-740E-453D-9119-75F2144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1CCE0-4337-4B0D-836A-8F51772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8FA29-262A-4D75-9D21-928C60C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47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33F43-6FC7-4459-B544-722088A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A72B9-5310-4DA0-A266-4D3FB11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22E62-513E-4D15-A0D5-15A018A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Logistic Regression learns class boundaries with balanced class weights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11B86-94B0-4BB5-A08F-E9044E3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206D2-8E6D-457F-AB59-665777A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339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Prediction output: positive / neutral / negative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97B64-04B0-4D28-BE70-84D00B3F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387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The trained pipeline is saved as models/ppkm_sentiment_pipeline.pkl.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2332B-0B29-4A05-A799-726645ED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54FB1-F1DF-4B2A-A5ED-6029EDA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src/train_sentiment.py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C4DDC-C696-47A8-9A69-7B29EDA1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5368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61CA8-2F36-487A-84C1-A91B02B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8E946B-E703-4E81-B56D-A74C45B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52268E-BFA4-440C-A6EE-F957C54F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MODEL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29F45-E52F-4303-84A5-7267975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classifier performs well overall, with neutral sentiment as the strongest class.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C479D-CD15-4E70-A109-1E747E50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CE86C-07AB-4552-9E96-C9B8674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669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F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8F6B"/>
                </a:solidFill>
                <a:latin typeface="Aptos Display"/>
                <a:ea typeface="Aptos Display"/>
                <a:cs typeface="Aptos Display"/>
              </a:rPr>
              <a:t>0.8422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820C4-4DB8-42CE-8032-9E98EE7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323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B942-A430-4EDF-8049-E92FEA9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35331-61A1-49FC-B38A-30C0F05A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669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B6EA8"/>
                </a:solidFill>
                <a:latin typeface="Aptos Display"/>
                <a:ea typeface="Aptos Display"/>
                <a:cs typeface="Aptos Display"/>
              </a:rPr>
              <a:t>0.7384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11B94-DC96-4D56-9574-150D583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86025"/>
            <a:ext cx="1323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1957E-1EB9-467C-B620-A5FF8EB7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666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3BD4D-7AF4-4855-BFD3-9D1681E7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669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rPr>
              <a:t>0.8506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D4336-0B24-42C0-A885-E471797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86025"/>
            <a:ext cx="1323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9F2F1-6DEF-47BB-8416-E256B6F9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24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5A454-8E1E-4E62-9D2F-A9A70675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431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187B-227C-40C6-88E5-EC96CE5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717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3346B-C0B4-4DA1-913F-9E0FA7E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71725"/>
            <a:ext cx="977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C9839-0B95-45B6-A548-AD189B0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41E28-F71E-4196-8229-93AEF659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978E8-16FB-4731-ABDA-D881DBB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908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16172-A3A8-4D0D-B866-9E8ABD0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90825"/>
            <a:ext cx="156019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6643D-CF03-4E3C-8FC6-4EEB56C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527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3CAD3-3B7F-4D8A-B2DC-953FCB7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813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9B51F-0EB7-465D-BFE7-643C420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099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43DAC-5F95-404A-884E-F93D523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09925"/>
            <a:ext cx="12687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E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6F311-371C-420B-A690-42B4C87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718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0.74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ED8CA-6A80-418B-B22D-70FBC2A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C1BF3-0839-4882-82F2-4703504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rows=true, cols=predicted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0D972-C51F-431A-B2FA-0ACAA058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0763A-BCAA-4270-854D-3AA2CB1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909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9A816-03C2-453E-A812-2D958D8D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147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E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6313C-B407-4C49-906A-899345FE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909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E07C3A-BF2D-4D23-AE3F-074CA75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D6B2B7-CA97-4DDC-85D2-9B3DC57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B12265-6D74-4077-BEA3-F0031966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147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8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73F968-326E-4116-8AA0-261E159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9B5D73-5398-40C8-AF5A-45681BF6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E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B89686-EB6F-4A25-8E77-67C54987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862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A9DF82-8C7D-4A70-A35D-D910F2E3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100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E29DF5-F31C-4756-80DB-4FCA5970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F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F6B"/>
                </a:solidFill>
                <a:latin typeface="Aptos"/>
                <a:ea typeface="Aptos"/>
                <a:cs typeface="Aptos"/>
              </a:rPr>
              <a:t>263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0CEE82-6799-4B92-8F56-02AE29AB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B2FCEF-9438-435F-9ADB-EBBE2BA3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641AF-19AA-4ACF-B8C8-2CC08CF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100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3E6D02-3A6D-44F9-9CEE-12C03B22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80DBEE-4AC7-4B21-BEF4-EE78E05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842D0-7E3B-4EDF-8964-9F6478B8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815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A4AF06-8B25-4FDC-A5EF-F7BED34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BD2D5C-97A6-45EB-A544-7BC11DEC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815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EBDEC2-216C-4847-895F-C948DF9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053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688111-813B-48E3-AC41-016080A2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815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3062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C336F-D12B-4288-9833-1C917CF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053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AF325B-AA9F-41D8-AB4E-6306913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815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264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3EDE60-EBCE-48B0-B9FA-B2A6BAC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006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8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AA4A68-BBA7-48A6-A7D5-0E5DD92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657ACD-F933-484B-891F-53CD3150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006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1BB0E6-EA1A-4155-8167-9CDF15F3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768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A0C896-7685-47C4-9A46-C4DA374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006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7194BF-3CC5-4B84-B403-1001E71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768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18013C-A276-474B-B93C-E67CFE9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00650"/>
            <a:ext cx="93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E84B22-3269-42E0-983B-802984F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768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4E5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4E52"/>
                </a:solidFill>
                <a:latin typeface="Aptos"/>
                <a:ea typeface="Aptos"/>
                <a:cs typeface="Aptos"/>
              </a:rPr>
              <a:t>658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C3F95F-D73F-4839-9E1D-E52D39D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43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Macro F1 is useful because it treats each class equally, even when the dataset is imbalanced.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40918D-633F-45F2-A016-32C69657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195296-BEEB-4C85-B6EF-9BFD8CD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held-out PPKM test split, random_state=42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F36CE9-24C7-47D1-9C9B-2299422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2922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2886B-DDBF-4AA1-B299-109A05B0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BDADE7-E79D-43AE-B35B-59CB004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E61C40-2DAE-496D-8B83-6061BEA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HOW TO USE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2B89-B5DD-4537-9035-8765536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project supports both notebook explanation and command-line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5AF21-7D01-42E4-8A58-BBD9220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672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86C8B-F3DC-4D09-8850-663DA80F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Notebook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5DE56-AAFF-4615-9CEE-D53E5C3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C7607-7F98-4CA0-B562-786A571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D052-40E5-42FE-9D3D-E5BB9E0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05149-31AA-4C7B-95B6-709729D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main.ipynb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8677F-D7FB-4BEE-8ACE-A9F9E26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3371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loads datasets, preprocesses text, trains the model, displays 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C2D3F-EA1F-484E-837F-D0260DE6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F1656-014A-4C55-9578-8A63C59D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5692F-83A6-4B05-9408-EA79DB97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91025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1B28E-5D37-40C7-888E-63D29AA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243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834C-D4C5-4863-9E6B-03D988E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3371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shows prediction preview and summarization examples inside the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72DCE-7F93-4EF9-A512-8D5EB54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D3E68-4ACF-4416-BB35-C6006AC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AA6B-65F6-4392-8259-E6597D7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4F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3F4F6"/>
                </a:solidFill>
                <a:latin typeface="Aptos Mono"/>
                <a:ea typeface="Aptos Mono"/>
                <a:cs typeface="Aptos Mono"/>
              </a:rPr>
              <a:t>python src/train_sentiment.py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6DD97-80D1-4496-B15B-BCF21BB0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70E6E-CDA4-42DC-87DA-A85547C0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6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62752-748A-4373-AE7E-7D1E1AC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4F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3F4F6"/>
                </a:solidFill>
                <a:latin typeface="Aptos Mono"/>
                <a:ea typeface="Aptos Mono"/>
                <a:cs typeface="Aptos Mono"/>
              </a:rPr>
              <a:t>python src/predict_sentiment.py "PPKM ini bikin masyarakat makin susah"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DECFF-1BF6-4AF2-8D2C-5003D3E9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negative (0.7358)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B2D38-E31B-43CB-885B-8F4C2B1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F4786-D74E-46E8-A1CD-5C47C25F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 commands and verified local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B1889-13DF-4760-80D9-85D05D0B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53441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EE232-B617-47AC-A4BB-9AC80CF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530BB05-E07E-44B7-BD54-8EDF3B1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FD8C83-D67C-4148-BC1D-08366B1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2205F-9CEC-4680-9026-572ED6D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system is a clear baseline for PPKM sentiment, with known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594B1-A93A-4C68-B693-AB850BB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1D09-41AA-40B2-89CA-4C954DB2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it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6AD1D-1A76-45C0-842A-1A425A7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How to present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97ABD-F2B1-4391-81A3-E421126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8A38F-6D63-4E32-BB5D-5D45750E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7341D-0C65-4CDF-968D-1239BD9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Neutral tweets dominate, while positive is the smallest 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39DE2-56F2-4BDD-913E-667B0D8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macro F1 and discuss class-level performance.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A4B7A-5BCF-4EEB-A088-0B5BF8F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745E8-4E14-49EF-92A6-38721F1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Domain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0571F-435D-4077-BB3E-6E827603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training data focuses on PPKM-related tweets.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3E6E8-ADE5-471F-8136-F88BC60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Describe the model as PPKM tweet sentiment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46F08-E29D-4170-806D-BCBD9B3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830EC-B02B-438A-8ABD-8BD434BD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EEEDF-84DE-4685-A3FD-8FCB565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TF-IDF is interpretable but limited for sarcasm and deep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69C41-4AE1-4DD9-BE89-A7E3CAF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it as a transparent supervised baseline.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40D8A-99FD-421E-BFE9-DDAC9328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19050">
            <a:solidFill>
              <a:srgbClr val="F8F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1CE3A-7832-4E85-BB20-F472623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Summarization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C6654-1696-4915-8218-E1ADC99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LexRank and TextRank are included as extractive examples.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C98D8-F293-464D-9855-EDFFA08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Present summarization separately from sentiment classification.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AF5C8-C915-4F57-BCD8-76CFD09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428DA-02D0-40E2-938A-2E80341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project design and current evaluation behavior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B553F-6C6E-4BBB-AC60-BB22397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49847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DF8E1-DB1E-4130-BB77-7B73BE8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088E5D-7EE7-43EC-9449-F683180B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0143BE-A30F-4D39-98BB-DBD6B9D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C4DC1-06F9-42E9-8CCE-1CF137F3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904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project demonstrates a complete Indonesian sentiment-analysis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E9F0C-4045-4C63-A393-05877801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It covers dataset loading, tweet preprocessing, TF-IDF feature extraction, supervised model training, evaluation, and prediction.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03C4-8C89-4F28-9C2F-B8ADB9C6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16988-D079-4827-845B-3859FFE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60BB-78BF-493A-8982-6710A7B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5446-D45D-4783-80B7-B785BC6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60A9-1CC6-458E-9295-D43462C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Classifies PPKM tweets into positive, neutral, and negative sentiment.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71E9E-05AC-47CC-B839-5B004586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CFD38-5205-424D-A94A-047A5D6A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324BA-9EA5-493C-B49B-0546929E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10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70CDF-F8EB-4B90-812A-7BAF011E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421FB-BB51-47B6-B837-1AFFDA5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Helps summarize public opinion from Indonesian social media 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6B34C-5B72-4D9F-93A0-B1BF6835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F8CB8-FE2B-4DA7-B165-2269DF0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8B908-52C7-4C01-9453-99AF976C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10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3CAA8-B3B6-473F-8A46-1849EFA3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226A2-AF8E-449F-9E31-2969497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205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Uses preprocessing, TF-IDF, and Logistic Regression in a reproducible pipeline.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50DF1-E557-4A3A-863F-5D713D6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40BB2-EFC2-4635-8BA5-1CF68BE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Final takeaway: interpretable, reproducible, and ready to demonstrate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46E02-F225-41CA-8A6E-ED8D47F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8872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2026-06-03T14:12:36.8330000Z</dcterms:created>
  <dcterms:modified xsi:type="dcterms:W3CDTF">2026-06-03T14:12:36.8330000Z</dcterms:modified>
</coreProperties>
</file>